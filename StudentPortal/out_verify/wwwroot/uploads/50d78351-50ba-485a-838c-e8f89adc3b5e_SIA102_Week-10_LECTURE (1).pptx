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5"/>
  </p:notesMasterIdLst>
  <p:sldIdLst>
    <p:sldId id="256" r:id="rId5"/>
    <p:sldId id="257"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8" r:id="rId21"/>
    <p:sldId id="287" r:id="rId22"/>
    <p:sldId id="289" r:id="rId23"/>
    <p:sldId id="26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3</a:t>
            </a:fld>
            <a:endParaRPr lang="en-US"/>
          </a:p>
        </p:txBody>
      </p:sp>
    </p:spTree>
    <p:extLst>
      <p:ext uri="{BB962C8B-B14F-4D97-AF65-F5344CB8AC3E}">
        <p14:creationId xmlns:p14="http://schemas.microsoft.com/office/powerpoint/2010/main" val="1786687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4</a:t>
            </a:fld>
            <a:endParaRPr lang="en-US"/>
          </a:p>
        </p:txBody>
      </p:sp>
    </p:spTree>
    <p:extLst>
      <p:ext uri="{BB962C8B-B14F-4D97-AF65-F5344CB8AC3E}">
        <p14:creationId xmlns:p14="http://schemas.microsoft.com/office/powerpoint/2010/main" val="927490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5</a:t>
            </a:fld>
            <a:endParaRPr lang="en-US"/>
          </a:p>
        </p:txBody>
      </p:sp>
    </p:spTree>
    <p:extLst>
      <p:ext uri="{BB962C8B-B14F-4D97-AF65-F5344CB8AC3E}">
        <p14:creationId xmlns:p14="http://schemas.microsoft.com/office/powerpoint/2010/main" val="1961672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6</a:t>
            </a:fld>
            <a:endParaRPr lang="en-US"/>
          </a:p>
        </p:txBody>
      </p:sp>
    </p:spTree>
    <p:extLst>
      <p:ext uri="{BB962C8B-B14F-4D97-AF65-F5344CB8AC3E}">
        <p14:creationId xmlns:p14="http://schemas.microsoft.com/office/powerpoint/2010/main" val="868112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7</a:t>
            </a:fld>
            <a:endParaRPr lang="en-US"/>
          </a:p>
        </p:txBody>
      </p:sp>
    </p:spTree>
    <p:extLst>
      <p:ext uri="{BB962C8B-B14F-4D97-AF65-F5344CB8AC3E}">
        <p14:creationId xmlns:p14="http://schemas.microsoft.com/office/powerpoint/2010/main" val="3082420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8</a:t>
            </a:fld>
            <a:endParaRPr lang="en-US"/>
          </a:p>
        </p:txBody>
      </p:sp>
    </p:spTree>
    <p:extLst>
      <p:ext uri="{BB962C8B-B14F-4D97-AF65-F5344CB8AC3E}">
        <p14:creationId xmlns:p14="http://schemas.microsoft.com/office/powerpoint/2010/main" val="2524100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9</a:t>
            </a:fld>
            <a:endParaRPr lang="en-US"/>
          </a:p>
        </p:txBody>
      </p:sp>
    </p:spTree>
    <p:extLst>
      <p:ext uri="{BB962C8B-B14F-4D97-AF65-F5344CB8AC3E}">
        <p14:creationId xmlns:p14="http://schemas.microsoft.com/office/powerpoint/2010/main" val="1476153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10</a:t>
            </a:fld>
            <a:endParaRPr lang="en-US"/>
          </a:p>
        </p:txBody>
      </p:sp>
    </p:spTree>
    <p:extLst>
      <p:ext uri="{BB962C8B-B14F-4D97-AF65-F5344CB8AC3E}">
        <p14:creationId xmlns:p14="http://schemas.microsoft.com/office/powerpoint/2010/main" val="328132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11</a:t>
            </a:fld>
            <a:endParaRPr lang="en-US"/>
          </a:p>
        </p:txBody>
      </p:sp>
    </p:spTree>
    <p:extLst>
      <p:ext uri="{BB962C8B-B14F-4D97-AF65-F5344CB8AC3E}">
        <p14:creationId xmlns:p14="http://schemas.microsoft.com/office/powerpoint/2010/main" val="3570664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12</a:t>
            </a:fld>
            <a:endParaRPr lang="en-US"/>
          </a:p>
        </p:txBody>
      </p:sp>
    </p:spTree>
    <p:extLst>
      <p:ext uri="{BB962C8B-B14F-4D97-AF65-F5344CB8AC3E}">
        <p14:creationId xmlns:p14="http://schemas.microsoft.com/office/powerpoint/2010/main" val="3409077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13</a:t>
            </a:fld>
            <a:endParaRPr lang="en-US"/>
          </a:p>
        </p:txBody>
      </p:sp>
    </p:spTree>
    <p:extLst>
      <p:ext uri="{BB962C8B-B14F-4D97-AF65-F5344CB8AC3E}">
        <p14:creationId xmlns:p14="http://schemas.microsoft.com/office/powerpoint/2010/main" val="24174082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14</a:t>
            </a:fld>
            <a:endParaRPr lang="en-US"/>
          </a:p>
        </p:txBody>
      </p:sp>
    </p:spTree>
    <p:extLst>
      <p:ext uri="{BB962C8B-B14F-4D97-AF65-F5344CB8AC3E}">
        <p14:creationId xmlns:p14="http://schemas.microsoft.com/office/powerpoint/2010/main" val="2142862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15</a:t>
            </a:fld>
            <a:endParaRPr lang="en-US"/>
          </a:p>
        </p:txBody>
      </p:sp>
    </p:spTree>
    <p:extLst>
      <p:ext uri="{BB962C8B-B14F-4D97-AF65-F5344CB8AC3E}">
        <p14:creationId xmlns:p14="http://schemas.microsoft.com/office/powerpoint/2010/main" val="349961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16</a:t>
            </a:fld>
            <a:endParaRPr lang="en-US"/>
          </a:p>
        </p:txBody>
      </p:sp>
    </p:spTree>
    <p:extLst>
      <p:ext uri="{BB962C8B-B14F-4D97-AF65-F5344CB8AC3E}">
        <p14:creationId xmlns:p14="http://schemas.microsoft.com/office/powerpoint/2010/main" val="4025656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17</a:t>
            </a:fld>
            <a:endParaRPr lang="en-US"/>
          </a:p>
        </p:txBody>
      </p:sp>
    </p:spTree>
    <p:extLst>
      <p:ext uri="{BB962C8B-B14F-4D97-AF65-F5344CB8AC3E}">
        <p14:creationId xmlns:p14="http://schemas.microsoft.com/office/powerpoint/2010/main" val="2638009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18</a:t>
            </a:fld>
            <a:endParaRPr lang="en-US"/>
          </a:p>
        </p:txBody>
      </p:sp>
    </p:spTree>
    <p:extLst>
      <p:ext uri="{BB962C8B-B14F-4D97-AF65-F5344CB8AC3E}">
        <p14:creationId xmlns:p14="http://schemas.microsoft.com/office/powerpoint/2010/main" val="2862190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1B2AA4F-B828-4D7C-AFD3-893933DAFCB4}" type="slidenum">
              <a:rPr lang="en-US" smtClean="0"/>
              <a:t>19</a:t>
            </a:fld>
            <a:endParaRPr lang="en-US"/>
          </a:p>
        </p:txBody>
      </p:sp>
    </p:spTree>
    <p:extLst>
      <p:ext uri="{BB962C8B-B14F-4D97-AF65-F5344CB8AC3E}">
        <p14:creationId xmlns:p14="http://schemas.microsoft.com/office/powerpoint/2010/main" val="118181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6"/>
          <p:cNvSpPr>
            <a:spLocks noGrp="1"/>
          </p:cNvSpPr>
          <p:nvPr>
            <p:ph type="sldNum" sz="quarter" idx="4"/>
          </p:nvPr>
        </p:nvSpPr>
        <p:spPr>
          <a:xfrm>
            <a:off x="9059545" y="6356350"/>
            <a:ext cx="2743200" cy="365125"/>
          </a:xfrm>
          <a:prstGeom prst="rect">
            <a:avLst/>
          </a:prstGeom>
        </p:spPr>
        <p:txBody>
          <a:bodyPr vert="horz" lIns="91440" tIns="45720" rIns="91440" bIns="45720" rtlCol="0" anchor="ctr"/>
          <a:lstStyle>
            <a:lvl1pPr algn="r">
              <a:defRPr sz="1600" b="1">
                <a:solidFill>
                  <a:schemeClr val="bg1"/>
                </a:solidFill>
              </a:defRPr>
            </a:lvl1pPr>
          </a:lstStyle>
          <a:p>
            <a:fld id="{9B618960-8005-486C-9A75-10CB2AAC16F9}"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4/16/2026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059545" y="6356350"/>
            <a:ext cx="2743200" cy="365125"/>
          </a:xfrm>
          <a:prstGeom prst="rect">
            <a:avLst/>
          </a:prstGeom>
        </p:spPr>
        <p:txBody>
          <a:bodyPr vert="horz" lIns="91440" tIns="45720" rIns="91440" bIns="45720" rtlCol="0" anchor="ctr"/>
          <a:lstStyle>
            <a:lvl1pPr algn="r">
              <a:defRPr sz="1600" b="1">
                <a:solidFill>
                  <a:schemeClr val="bg1"/>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4810" y="2447290"/>
            <a:ext cx="5078095" cy="970280"/>
          </a:xfrm>
        </p:spPr>
        <p:txBody>
          <a:bodyPr anchor="ctr" anchorCtr="0">
            <a:normAutofit/>
          </a:bodyPr>
          <a:lstStyle/>
          <a:p>
            <a:pPr algn="l"/>
            <a:r>
              <a:rPr lang="en-US" sz="4000">
                <a:effectLst>
                  <a:outerShdw blurRad="38100" dist="38100" dir="2700000" algn="tl">
                    <a:srgbClr val="000000">
                      <a:alpha val="43137"/>
                    </a:srgbClr>
                  </a:outerShdw>
                </a:effectLst>
                <a:latin typeface="Arial Bold" panose="020B0604020202020204" charset="0"/>
                <a:cs typeface="Arial Bold" panose="020B0604020202020204" charset="0"/>
              </a:rPr>
              <a:t>WEEK 10</a:t>
            </a:r>
          </a:p>
        </p:txBody>
      </p:sp>
      <p:sp>
        <p:nvSpPr>
          <p:cNvPr id="3" name="Subtitle 2"/>
          <p:cNvSpPr>
            <a:spLocks noGrp="1"/>
          </p:cNvSpPr>
          <p:nvPr>
            <p:ph type="subTitle" idx="1"/>
          </p:nvPr>
        </p:nvSpPr>
        <p:spPr>
          <a:xfrm>
            <a:off x="384810" y="3440431"/>
            <a:ext cx="7032625" cy="1410335"/>
          </a:xfrm>
        </p:spPr>
        <p:txBody>
          <a:bodyPr anchor="ctr" anchorCtr="0">
            <a:noAutofit/>
          </a:bodyPr>
          <a:lstStyle/>
          <a:p>
            <a:pPr algn="l"/>
            <a:r>
              <a:rPr lang="en-US" sz="4400" b="1">
                <a:effectLst>
                  <a:outerShdw blurRad="38100" dist="38100" dir="2700000" algn="tl">
                    <a:srgbClr val="000000">
                      <a:alpha val="43137"/>
                    </a:srgbClr>
                  </a:outerShdw>
                </a:effectLst>
                <a:latin typeface="Arial Bold" panose="020B0604020202020204" charset="0"/>
                <a:cs typeface="Arial Bold" panose="020B0604020202020204" charset="0"/>
              </a:rPr>
              <a:t>ARCHITECTURAL VIEWS AND DOCUMENTATION</a:t>
            </a:r>
          </a:p>
        </p:txBody>
      </p:sp>
      <p:sp>
        <p:nvSpPr>
          <p:cNvPr id="4" name="Title 1"/>
          <p:cNvSpPr>
            <a:spLocks noGrp="1"/>
          </p:cNvSpPr>
          <p:nvPr/>
        </p:nvSpPr>
        <p:spPr>
          <a:xfrm>
            <a:off x="384810" y="5158105"/>
            <a:ext cx="6438265" cy="970280"/>
          </a:xfrm>
          <a:prstGeom prst="rect">
            <a:avLst/>
          </a:prstGeom>
        </p:spPr>
        <p:txBody>
          <a:bodyPr vert="horz" lIns="91440" tIns="45720" rIns="91440" bIns="4572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000">
                <a:effectLst>
                  <a:outerShdw blurRad="38100" dist="38100" dir="2700000" algn="tl">
                    <a:srgbClr val="000000">
                      <a:alpha val="43137"/>
                    </a:srgbClr>
                  </a:outerShdw>
                </a:effectLst>
                <a:latin typeface="+mn-ea"/>
                <a:cs typeface="+mn-ea"/>
              </a:rPr>
              <a:t>SIA102 – SYSTEM INTEGRATION AND ARCHITECTURE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47675" y="1452245"/>
            <a:ext cx="10906125" cy="4725035"/>
          </a:xfrm>
        </p:spPr>
        <p:txBody>
          <a:bodyPr>
            <a:normAutofit/>
          </a:bodyPr>
          <a:lstStyle/>
          <a:p>
            <a:pPr marL="742950" marR="109220" indent="-742950">
              <a:lnSpc>
                <a:spcPct val="250000"/>
              </a:lnSpc>
              <a:buClr>
                <a:srgbClr val="1C1C1C"/>
              </a:buClr>
              <a:buFont typeface="+mj-lt"/>
              <a:buAutoNum type="arabicPeriod"/>
            </a:pPr>
            <a:r>
              <a:rPr lang="en-US" sz="3600">
                <a:latin typeface="Calibri" panose="020F0502020204030204" pitchFamily="34" charset="0"/>
              </a:rPr>
              <a:t>Familiarize with modeling languages and tools used in enterprise architecture.</a:t>
            </a:r>
          </a:p>
          <a:p>
            <a:pPr marL="742950" marR="109220" indent="-742950">
              <a:lnSpc>
                <a:spcPct val="250000"/>
              </a:lnSpc>
              <a:buClr>
                <a:srgbClr val="1C1C1C"/>
              </a:buClr>
              <a:buFont typeface="+mj-lt"/>
              <a:buAutoNum type="arabicPeriod"/>
            </a:pPr>
            <a:r>
              <a:rPr lang="en-US" sz="3600">
                <a:latin typeface="Calibri" panose="020F0502020204030204" pitchFamily="34" charset="0"/>
              </a:rPr>
              <a:t>Create architectural models and diagrams effectively. </a:t>
            </a:r>
          </a:p>
          <a:p>
            <a:pPr marL="514350" indent="-514350">
              <a:buFont typeface="+mj-lt"/>
              <a:buAutoNum type="arabicPeriod"/>
            </a:pPr>
            <a:endParaRPr lang="en-US"/>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2</a:t>
            </a:r>
          </a:p>
        </p:txBody>
      </p:sp>
      <p:sp>
        <p:nvSpPr>
          <p:cNvPr id="10" name="Slide Number Placeholder 9"/>
          <p:cNvSpPr>
            <a:spLocks noGrp="1"/>
          </p:cNvSpPr>
          <p:nvPr>
            <p:ph type="sldNum" sz="quarter" idx="12"/>
          </p:nvPr>
        </p:nvSpPr>
        <p:spPr/>
        <p:txBody>
          <a:bodyPr/>
          <a:lstStyle/>
          <a:p>
            <a:fld id="{9B618960-8005-486C-9A75-10CB2AAC16F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ARCHITECTURAL VIEWS AND DOCUMENTATION </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3</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93689" y="1377538"/>
            <a:ext cx="11256843" cy="4154984"/>
          </a:xfrm>
          <a:prstGeom prst="rect">
            <a:avLst/>
          </a:prstGeom>
          <a:noFill/>
        </p:spPr>
        <p:txBody>
          <a:bodyPr wrap="square" rtlCol="0">
            <a:spAutoFit/>
          </a:bodyPr>
          <a:lstStyle/>
          <a:p>
            <a:endParaRPr lang="en-US" sz="2400">
              <a:latin typeface="Segoe UI Historic" panose="020B0502040204020203" pitchFamily="34" charset="0"/>
            </a:endParaRPr>
          </a:p>
          <a:p>
            <a:r>
              <a:rPr lang="en-US" sz="2400"/>
              <a:t>• Architectural Views: Architectural views are representations of specific aspects of an enterprise architecture that focus on different stakeholder concerns, Each view provides a specific perspective on the architecture, highlighting the relevant components, relationships, and interactions.</a:t>
            </a:r>
            <a:endParaRPr lang="en-PH" sz="2400"/>
          </a:p>
          <a:p>
            <a:endParaRPr lang="en-PH" sz="2400"/>
          </a:p>
          <a:p>
            <a:endParaRPr lang="en-PH" sz="2400"/>
          </a:p>
          <a:p>
            <a:r>
              <a:rPr lang="en-US" sz="2400"/>
              <a:t>• Documentation: Architectural documentation refers to the written and visual materials that capture and describe the architecture. It includes documents, diagrams, models, and other artifacts that provide detailed information about the architecture's structure, components, behavior, and relationships. </a:t>
            </a:r>
            <a:endParaRPr lang="en-PH"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ARCHITECTURAL VIEWS AND DOCUMENTATION </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4</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93689" y="1377538"/>
            <a:ext cx="11256843" cy="2308324"/>
          </a:xfrm>
          <a:prstGeom prst="rect">
            <a:avLst/>
          </a:prstGeom>
          <a:noFill/>
        </p:spPr>
        <p:txBody>
          <a:bodyPr wrap="square" rtlCol="0">
            <a:spAutoFit/>
          </a:bodyPr>
          <a:lstStyle/>
          <a:p>
            <a:endParaRPr lang="en-US" sz="2400">
              <a:latin typeface="Segoe UI Historic" panose="020B0502040204020203" pitchFamily="34" charset="0"/>
            </a:endParaRPr>
          </a:p>
          <a:p>
            <a:r>
              <a:rPr lang="en-US" sz="2400"/>
              <a:t>Architectural views and documentation often utilize modeling languages and tools to represent the architecture in a standardized and consistent manner.</a:t>
            </a:r>
          </a:p>
          <a:p>
            <a:r>
              <a:rPr lang="en-US" sz="2400"/>
              <a:t>Commonly used modeling languages include Unified Modeling Language (UML) and ArchiMate. These languages provide notations and conventions to express architectural concepts, relationships, and constraints.</a:t>
            </a:r>
            <a:endParaRPr lang="en-PH" sz="2400"/>
          </a:p>
        </p:txBody>
      </p:sp>
    </p:spTree>
    <p:extLst>
      <p:ext uri="{BB962C8B-B14F-4D97-AF65-F5344CB8AC3E}">
        <p14:creationId xmlns:p14="http://schemas.microsoft.com/office/powerpoint/2010/main" val="807386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CREATING ARCHITECTURAL VIEWS AND DIAGRAMS</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5</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93689" y="1377538"/>
            <a:ext cx="11256843" cy="3785652"/>
          </a:xfrm>
          <a:prstGeom prst="rect">
            <a:avLst/>
          </a:prstGeom>
          <a:noFill/>
        </p:spPr>
        <p:txBody>
          <a:bodyPr wrap="square" rtlCol="0">
            <a:spAutoFit/>
          </a:bodyPr>
          <a:lstStyle/>
          <a:p>
            <a:pPr marL="457200" indent="-457200">
              <a:buAutoNum type="arabicPeriod"/>
            </a:pPr>
            <a:r>
              <a:rPr lang="en-US" sz="2400" u="sng">
                <a:latin typeface="Segoe UI Historic" panose="020B0502040204020203" pitchFamily="34" charset="0"/>
              </a:rPr>
              <a:t>Identify Stakeholder Concerns: </a:t>
            </a:r>
            <a:r>
              <a:rPr lang="en-US" sz="2400">
                <a:latin typeface="Segoe UI Historic" panose="020B0502040204020203" pitchFamily="34" charset="0"/>
              </a:rPr>
              <a:t>Understand the diverse needs and concerns of different stakeholders, such as business leaders, technical teams, and decision-makers. </a:t>
            </a:r>
          </a:p>
          <a:p>
            <a:pPr marL="457200" indent="-457200">
              <a:buAutoNum type="arabicPeriod"/>
            </a:pPr>
            <a:endParaRPr lang="en-US" sz="2400">
              <a:latin typeface="Segoe UI Historic" panose="020B0502040204020203" pitchFamily="34" charset="0"/>
            </a:endParaRPr>
          </a:p>
          <a:p>
            <a:pPr marL="457200" indent="-457200">
              <a:buAutoNum type="arabicPeriod"/>
            </a:pPr>
            <a:r>
              <a:rPr lang="en-US" sz="2400" u="sng">
                <a:latin typeface="Segoe UI Historic" panose="020B0502040204020203" pitchFamily="34" charset="0"/>
              </a:rPr>
              <a:t>Define Viewpoints: </a:t>
            </a:r>
            <a:r>
              <a:rPr lang="en-US" sz="2400">
                <a:latin typeface="Segoe UI Historic" panose="020B0502040204020203" pitchFamily="34" charset="0"/>
              </a:rPr>
              <a:t>Determine the viewpoints or perspectives that will be used to represent the architecture. </a:t>
            </a:r>
          </a:p>
          <a:p>
            <a:pPr marL="457200" indent="-457200">
              <a:buAutoNum type="arabicPeriod"/>
            </a:pPr>
            <a:endParaRPr lang="en-US" sz="2400">
              <a:latin typeface="Segoe UI Historic" panose="020B0502040204020203" pitchFamily="34" charset="0"/>
            </a:endParaRPr>
          </a:p>
          <a:p>
            <a:pPr marL="457200" indent="-457200">
              <a:buAutoNum type="arabicPeriod"/>
            </a:pPr>
            <a:r>
              <a:rPr lang="en-US" sz="2400" u="sng">
                <a:latin typeface="Segoe UI Historic" panose="020B0502040204020203" pitchFamily="34" charset="0"/>
              </a:rPr>
              <a:t>Select Appropriate Notations and Techniques: </a:t>
            </a:r>
            <a:r>
              <a:rPr lang="en-US" sz="2400">
                <a:latin typeface="Segoe UI Historic" panose="020B0502040204020203" pitchFamily="34" charset="0"/>
              </a:rPr>
              <a:t>Choose the appropriate notations, symbols, and techniques to represent the architecture in the views and diagrams. </a:t>
            </a:r>
          </a:p>
        </p:txBody>
      </p:sp>
    </p:spTree>
    <p:extLst>
      <p:ext uri="{BB962C8B-B14F-4D97-AF65-F5344CB8AC3E}">
        <p14:creationId xmlns:p14="http://schemas.microsoft.com/office/powerpoint/2010/main" val="3187206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CREATING ARCHITECTURAL VIEWS AND DIAGRAMS</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6</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93689" y="1377538"/>
            <a:ext cx="11256843" cy="2677656"/>
          </a:xfrm>
          <a:prstGeom prst="rect">
            <a:avLst/>
          </a:prstGeom>
          <a:noFill/>
        </p:spPr>
        <p:txBody>
          <a:bodyPr wrap="square" rtlCol="0">
            <a:spAutoFit/>
          </a:bodyPr>
          <a:lstStyle/>
          <a:p>
            <a:r>
              <a:rPr lang="en-US" sz="2400" u="sng">
                <a:latin typeface="Segoe UI Historic" panose="020B0502040204020203" pitchFamily="34" charset="0"/>
              </a:rPr>
              <a:t>4. Gather Relevant Information:</a:t>
            </a:r>
            <a:r>
              <a:rPr lang="en-US" sz="2400">
                <a:latin typeface="Segoe UI Historic" panose="020B0502040204020203" pitchFamily="34" charset="0"/>
              </a:rPr>
              <a:t> Collect and analyze relevant information about the architecture, such as business requirements, system components, data flows, and technology infrastructure.</a:t>
            </a:r>
          </a:p>
          <a:p>
            <a:endParaRPr lang="en-US" sz="2400">
              <a:latin typeface="Segoe UI Historic" panose="020B0502040204020203" pitchFamily="34" charset="0"/>
            </a:endParaRPr>
          </a:p>
          <a:p>
            <a:endParaRPr lang="en-US" sz="2400">
              <a:latin typeface="Segoe UI Historic" panose="020B0502040204020203" pitchFamily="34" charset="0"/>
            </a:endParaRPr>
          </a:p>
          <a:p>
            <a:r>
              <a:rPr lang="en-US" sz="2400" u="sng">
                <a:latin typeface="Segoe UI Historic" panose="020B0502040204020203" pitchFamily="34" charset="0"/>
              </a:rPr>
              <a:t>5. Create Clear and Concise Views: </a:t>
            </a:r>
            <a:r>
              <a:rPr lang="en-US" sz="2400">
                <a:latin typeface="Segoe UI Historic" panose="020B0502040204020203" pitchFamily="34" charset="0"/>
              </a:rPr>
              <a:t>Develop clear and concise views that present the architecture from different angles. </a:t>
            </a:r>
          </a:p>
        </p:txBody>
      </p:sp>
    </p:spTree>
    <p:extLst>
      <p:ext uri="{BB962C8B-B14F-4D97-AF65-F5344CB8AC3E}">
        <p14:creationId xmlns:p14="http://schemas.microsoft.com/office/powerpoint/2010/main" val="4225020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COMMUNICATING ARCHITECTURAL VIEWS AND DIAGRAMS:</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7</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93689" y="1377538"/>
            <a:ext cx="11256843" cy="3416320"/>
          </a:xfrm>
          <a:prstGeom prst="rect">
            <a:avLst/>
          </a:prstGeom>
          <a:noFill/>
        </p:spPr>
        <p:txBody>
          <a:bodyPr wrap="square" rtlCol="0">
            <a:spAutoFit/>
          </a:bodyPr>
          <a:lstStyle/>
          <a:p>
            <a:pPr marL="457200" indent="-457200">
              <a:buAutoNum type="arabicPeriod"/>
            </a:pPr>
            <a:r>
              <a:rPr lang="en-US" sz="2400">
                <a:latin typeface="Segoe UI Historic" panose="020B0502040204020203" pitchFamily="34" charset="0"/>
              </a:rPr>
              <a:t>Tailor the Presentation to the Audience: Adapt the presentation of architectural views and diagrams to the specific needs and understanding of the intended audience. </a:t>
            </a:r>
          </a:p>
          <a:p>
            <a:pPr marL="457200" indent="-457200">
              <a:buAutoNum type="arabicPeriod"/>
            </a:pPr>
            <a:endParaRPr lang="en-US" sz="2400">
              <a:latin typeface="Segoe UI Historic" panose="020B0502040204020203" pitchFamily="34" charset="0"/>
            </a:endParaRPr>
          </a:p>
          <a:p>
            <a:pPr marL="457200" indent="-457200">
              <a:buAutoNum type="arabicPeriod"/>
            </a:pPr>
            <a:r>
              <a:rPr lang="en-US" sz="2400">
                <a:latin typeface="Segoe UI Historic" panose="020B0502040204020203" pitchFamily="34" charset="0"/>
              </a:rPr>
              <a:t>Provide Context and Explanations: Clearly explain the purpose, scope, and context of each view or diagram. </a:t>
            </a:r>
          </a:p>
          <a:p>
            <a:pPr marL="457200" indent="-457200">
              <a:buAutoNum type="arabicPeriod"/>
            </a:pPr>
            <a:endParaRPr lang="en-US" sz="2400">
              <a:latin typeface="Segoe UI Historic" panose="020B0502040204020203" pitchFamily="34" charset="0"/>
            </a:endParaRPr>
          </a:p>
          <a:p>
            <a:pPr marL="457200" indent="-457200">
              <a:buAutoNum type="arabicPeriod"/>
            </a:pPr>
            <a:r>
              <a:rPr lang="en-US" sz="2400">
                <a:latin typeface="Segoe UI Historic" panose="020B0502040204020203" pitchFamily="34" charset="0"/>
              </a:rPr>
              <a:t>Use Visual Elements Effectively: Utilize visual elements such as colors, shapes, and labels to enhance the clarity and comprehension of the diagrams. </a:t>
            </a:r>
          </a:p>
        </p:txBody>
      </p:sp>
    </p:spTree>
    <p:extLst>
      <p:ext uri="{BB962C8B-B14F-4D97-AF65-F5344CB8AC3E}">
        <p14:creationId xmlns:p14="http://schemas.microsoft.com/office/powerpoint/2010/main" val="1282826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COMMUNICATING ARCHITECTURAL VIEWS AND DIAGRAMS:</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8</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50658" y="1377538"/>
            <a:ext cx="11256843" cy="4154984"/>
          </a:xfrm>
          <a:prstGeom prst="rect">
            <a:avLst/>
          </a:prstGeom>
          <a:noFill/>
        </p:spPr>
        <p:txBody>
          <a:bodyPr wrap="square" rtlCol="0">
            <a:spAutoFit/>
          </a:bodyPr>
          <a:lstStyle/>
          <a:p>
            <a:r>
              <a:rPr lang="en-US" sz="2400">
                <a:latin typeface="Segoe UI Historic" panose="020B0502040204020203" pitchFamily="34" charset="0"/>
              </a:rPr>
              <a:t>4. Use Narratives and Descriptions: Support the visual representations with narratives and descriptions that provide additional context and explanations.</a:t>
            </a:r>
          </a:p>
          <a:p>
            <a:endParaRPr lang="en-US" sz="2400">
              <a:latin typeface="Segoe UI Historic" panose="020B0502040204020203" pitchFamily="34" charset="0"/>
            </a:endParaRPr>
          </a:p>
          <a:p>
            <a:r>
              <a:rPr lang="en-US" sz="2400">
                <a:latin typeface="Segoe UI Historic" panose="020B0502040204020203" pitchFamily="34" charset="0"/>
              </a:rPr>
              <a:t>5. Encourage Feedback and Collaboration: Engage stakeholders in discussions and solicit their feedback and input on the architectural views and diagrams. </a:t>
            </a:r>
          </a:p>
          <a:p>
            <a:endParaRPr lang="en-US" sz="2400">
              <a:latin typeface="Segoe UI Historic" panose="020B0502040204020203" pitchFamily="34" charset="0"/>
            </a:endParaRPr>
          </a:p>
          <a:p>
            <a:endParaRPr lang="en-US" sz="2400">
              <a:latin typeface="Segoe UI Historic" panose="020B0502040204020203" pitchFamily="34" charset="0"/>
            </a:endParaRPr>
          </a:p>
          <a:p>
            <a:endParaRPr lang="en-US" sz="2400">
              <a:latin typeface="Segoe UI Historic" panose="020B0502040204020203" pitchFamily="34" charset="0"/>
            </a:endParaRPr>
          </a:p>
          <a:p>
            <a:r>
              <a:rPr lang="en-US" sz="2400">
                <a:latin typeface="Segoe UI Historic" panose="020B0502040204020203" pitchFamily="34" charset="0"/>
              </a:rPr>
              <a:t>By effectively creating and communicating architectural views and diagrams, enterprise architects can foster understanding, alignment, and informed decision-making among stakeholders.</a:t>
            </a:r>
          </a:p>
        </p:txBody>
      </p:sp>
    </p:spTree>
    <p:extLst>
      <p:ext uri="{BB962C8B-B14F-4D97-AF65-F5344CB8AC3E}">
        <p14:creationId xmlns:p14="http://schemas.microsoft.com/office/powerpoint/2010/main" val="3193290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DOCUMENTING ARCHITECTURE DECISIONS AND RATIONALE</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9</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50658" y="1377538"/>
            <a:ext cx="11256843" cy="4154984"/>
          </a:xfrm>
          <a:prstGeom prst="rect">
            <a:avLst/>
          </a:prstGeom>
          <a:noFill/>
        </p:spPr>
        <p:txBody>
          <a:bodyPr wrap="square" rtlCol="0">
            <a:spAutoFit/>
          </a:bodyPr>
          <a:lstStyle/>
          <a:p>
            <a:r>
              <a:rPr lang="en-US" sz="2400">
                <a:latin typeface="Segoe UI Historic" panose="020B0502040204020203" pitchFamily="34" charset="0"/>
              </a:rPr>
              <a:t>Documenting architecture decisions and rationale is a critical practice in enterprise architecture. Here are some key points to consider when documenting architecture decisions and rationale:</a:t>
            </a:r>
          </a:p>
          <a:p>
            <a:endParaRPr lang="en-US" sz="2400">
              <a:latin typeface="Segoe UI Historic" panose="020B0502040204020203" pitchFamily="34" charset="0"/>
            </a:endParaRPr>
          </a:p>
          <a:p>
            <a:r>
              <a:rPr lang="en-US" sz="2400">
                <a:latin typeface="Segoe UI Historic" panose="020B0502040204020203" pitchFamily="34" charset="0"/>
              </a:rPr>
              <a:t>• Decision Context: Clearly define the context in which the decision was made</a:t>
            </a:r>
          </a:p>
          <a:p>
            <a:endParaRPr lang="en-US" sz="2400">
              <a:latin typeface="Segoe UI Historic" panose="020B0502040204020203" pitchFamily="34" charset="0"/>
            </a:endParaRPr>
          </a:p>
          <a:p>
            <a:r>
              <a:rPr lang="en-US" sz="2400">
                <a:latin typeface="Segoe UI Historic" panose="020B0502040204020203" pitchFamily="34" charset="0"/>
              </a:rPr>
              <a:t>• Decision Description: Provide a clear and concise description of the decision itself</a:t>
            </a:r>
          </a:p>
          <a:p>
            <a:endParaRPr lang="en-US" sz="2400">
              <a:latin typeface="Segoe UI Historic" panose="020B0502040204020203" pitchFamily="34" charset="0"/>
            </a:endParaRPr>
          </a:p>
          <a:p>
            <a:r>
              <a:rPr lang="en-US" sz="2400">
                <a:latin typeface="Segoe UI Historic" panose="020B0502040204020203" pitchFamily="34" charset="0"/>
              </a:rPr>
              <a:t>• Rationale and Justification: Document the rationale behind the decision by explaining the factors that influenced the decision-making process. </a:t>
            </a:r>
          </a:p>
        </p:txBody>
      </p:sp>
    </p:spTree>
    <p:extLst>
      <p:ext uri="{BB962C8B-B14F-4D97-AF65-F5344CB8AC3E}">
        <p14:creationId xmlns:p14="http://schemas.microsoft.com/office/powerpoint/2010/main" val="2979790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DOCUMENTING ARCHITECTURE DECISIONS AND RATIONALE</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10</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50658" y="1377538"/>
            <a:ext cx="11256843" cy="3785652"/>
          </a:xfrm>
          <a:prstGeom prst="rect">
            <a:avLst/>
          </a:prstGeom>
          <a:noFill/>
        </p:spPr>
        <p:txBody>
          <a:bodyPr wrap="square" rtlCol="0">
            <a:spAutoFit/>
          </a:bodyPr>
          <a:lstStyle/>
          <a:p>
            <a:r>
              <a:rPr lang="en-US" sz="2400">
                <a:latin typeface="Segoe UI Historic" panose="020B0502040204020203" pitchFamily="34" charset="0"/>
              </a:rPr>
              <a:t>• Stakeholder Input: Identify the stakeholders involved in the decision-making process and document their input, feedback, and concerns.</a:t>
            </a:r>
          </a:p>
          <a:p>
            <a:endParaRPr lang="en-US" sz="2400">
              <a:latin typeface="Segoe UI Historic" panose="020B0502040204020203" pitchFamily="34" charset="0"/>
            </a:endParaRPr>
          </a:p>
          <a:p>
            <a:r>
              <a:rPr lang="en-US" sz="2400">
                <a:latin typeface="Segoe UI Historic" panose="020B0502040204020203" pitchFamily="34" charset="0"/>
              </a:rPr>
              <a:t>• Future Impact and Dependencies: Consider the long-term implications of the decision and document any dependencies it may have on future decisions or initiatives.</a:t>
            </a:r>
          </a:p>
          <a:p>
            <a:endParaRPr lang="en-US" sz="2400">
              <a:latin typeface="Segoe UI Historic" panose="020B0502040204020203" pitchFamily="34" charset="0"/>
            </a:endParaRPr>
          </a:p>
          <a:p>
            <a:r>
              <a:rPr lang="en-US" sz="2400">
                <a:latin typeface="Segoe UI Historic" panose="020B0502040204020203" pitchFamily="34" charset="0"/>
              </a:rPr>
              <a:t>• Communication and Sign-off: Clearly document who participated in the decision-making process, including the individuals or groups responsible for making the final decision.</a:t>
            </a:r>
          </a:p>
        </p:txBody>
      </p:sp>
    </p:spTree>
    <p:extLst>
      <p:ext uri="{BB962C8B-B14F-4D97-AF65-F5344CB8AC3E}">
        <p14:creationId xmlns:p14="http://schemas.microsoft.com/office/powerpoint/2010/main" val="3872325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DOCUMENTING ARCHITECTURE DECISIONS AND RATIONALE</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11</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50658" y="1377538"/>
            <a:ext cx="11256843" cy="4154984"/>
          </a:xfrm>
          <a:prstGeom prst="rect">
            <a:avLst/>
          </a:prstGeom>
          <a:noFill/>
        </p:spPr>
        <p:txBody>
          <a:bodyPr wrap="square" rtlCol="0">
            <a:spAutoFit/>
          </a:bodyPr>
          <a:lstStyle/>
          <a:p>
            <a:r>
              <a:rPr lang="en-US" sz="2400">
                <a:latin typeface="Segoe UI Historic" panose="020B0502040204020203" pitchFamily="34" charset="0"/>
              </a:rPr>
              <a:t>• Integration with Architecture Documentation: Ensure that the documented architecture decisions and rationale are integrated with the overall architecture documentation. </a:t>
            </a:r>
          </a:p>
          <a:p>
            <a:endParaRPr lang="en-US" sz="2400">
              <a:latin typeface="Segoe UI Historic" panose="020B0502040204020203" pitchFamily="34" charset="0"/>
            </a:endParaRPr>
          </a:p>
          <a:p>
            <a:r>
              <a:rPr lang="en-US" sz="2400">
                <a:latin typeface="Segoe UI Historic" panose="020B0502040204020203" pitchFamily="34" charset="0"/>
              </a:rPr>
              <a:t>• Accessibility and Availability: Make the documented architecture decisions and rationale easily accessible to stakeholders, ensuring that they can refer to it when needed.</a:t>
            </a:r>
          </a:p>
          <a:p>
            <a:endParaRPr lang="en-US" sz="2400">
              <a:latin typeface="Segoe UI Historic" panose="020B0502040204020203" pitchFamily="34" charset="0"/>
            </a:endParaRPr>
          </a:p>
          <a:p>
            <a:r>
              <a:rPr lang="en-US" sz="2400">
                <a:latin typeface="Segoe UI Historic" panose="020B0502040204020203" pitchFamily="34" charset="0"/>
              </a:rPr>
              <a:t>• Review and Updates: Periodically review and update the documented architecture decisions and rationale to reflect any changes, updates, or lessons learned.</a:t>
            </a:r>
          </a:p>
        </p:txBody>
      </p:sp>
    </p:spTree>
    <p:extLst>
      <p:ext uri="{BB962C8B-B14F-4D97-AF65-F5344CB8AC3E}">
        <p14:creationId xmlns:p14="http://schemas.microsoft.com/office/powerpoint/2010/main" val="2005078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DOCUMENTING ARCHITECTURE DECISIONS AND RATIONALE</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12</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50658" y="1377538"/>
            <a:ext cx="11256843" cy="4154984"/>
          </a:xfrm>
          <a:prstGeom prst="rect">
            <a:avLst/>
          </a:prstGeom>
          <a:noFill/>
        </p:spPr>
        <p:txBody>
          <a:bodyPr wrap="square" rtlCol="0">
            <a:spAutoFit/>
          </a:bodyPr>
          <a:lstStyle/>
          <a:p>
            <a:r>
              <a:rPr lang="en-US" sz="2400">
                <a:latin typeface="Segoe UI Historic" panose="020B0502040204020203" pitchFamily="34" charset="0"/>
              </a:rPr>
              <a:t>• Integration with Architecture Documentation: Ensure that the documented architecture decisions and rationale are integrated with the overall architecture documentation. </a:t>
            </a:r>
          </a:p>
          <a:p>
            <a:endParaRPr lang="en-US" sz="2400">
              <a:latin typeface="Segoe UI Historic" panose="020B0502040204020203" pitchFamily="34" charset="0"/>
            </a:endParaRPr>
          </a:p>
          <a:p>
            <a:r>
              <a:rPr lang="en-US" sz="2400">
                <a:latin typeface="Segoe UI Historic" panose="020B0502040204020203" pitchFamily="34" charset="0"/>
              </a:rPr>
              <a:t>• Accessibility and Availability: Make the documented architecture decisions and rationale easily accessible to stakeholders, ensuring that they can refer to it when needed.</a:t>
            </a:r>
          </a:p>
          <a:p>
            <a:endParaRPr lang="en-US" sz="2400">
              <a:latin typeface="Segoe UI Historic" panose="020B0502040204020203" pitchFamily="34" charset="0"/>
            </a:endParaRPr>
          </a:p>
          <a:p>
            <a:r>
              <a:rPr lang="en-US" sz="2400">
                <a:latin typeface="Segoe UI Historic" panose="020B0502040204020203" pitchFamily="34" charset="0"/>
              </a:rPr>
              <a:t>• Review and Updates: Periodically review and update the documented architecture decisions and rationale to reflect any changes, updates, or lessons learned.</a:t>
            </a:r>
          </a:p>
        </p:txBody>
      </p:sp>
    </p:spTree>
    <p:extLst>
      <p:ext uri="{BB962C8B-B14F-4D97-AF65-F5344CB8AC3E}">
        <p14:creationId xmlns:p14="http://schemas.microsoft.com/office/powerpoint/2010/main" val="999656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USING MODELING LANGUAGES AND TOOLS (e.g., UML, ArchiMate)</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13</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50658" y="1377538"/>
            <a:ext cx="11256843" cy="4154984"/>
          </a:xfrm>
          <a:prstGeom prst="rect">
            <a:avLst/>
          </a:prstGeom>
          <a:noFill/>
        </p:spPr>
        <p:txBody>
          <a:bodyPr wrap="square" rtlCol="0">
            <a:spAutoFit/>
          </a:bodyPr>
          <a:lstStyle/>
          <a:p>
            <a:r>
              <a:rPr lang="en-US" sz="2400">
                <a:latin typeface="Segoe UI Historic" panose="020B0502040204020203" pitchFamily="34" charset="0"/>
              </a:rPr>
              <a:t>Using modeling languages and tools, such as UML (Unified Modeling Language) and ArchiMate, is an essential aspect of enterprise architecture.</a:t>
            </a:r>
          </a:p>
          <a:p>
            <a:endParaRPr lang="en-US" sz="2400">
              <a:latin typeface="Segoe UI Historic" panose="020B0502040204020203" pitchFamily="34" charset="0"/>
            </a:endParaRPr>
          </a:p>
          <a:p>
            <a:r>
              <a:rPr lang="en-US" sz="2400" b="1">
                <a:latin typeface="Segoe UI Historic" panose="020B0502040204020203" pitchFamily="34" charset="0"/>
              </a:rPr>
              <a:t>UML (Unified Modeling Language):</a:t>
            </a:r>
          </a:p>
          <a:p>
            <a:endParaRPr lang="en-US" sz="2400">
              <a:latin typeface="Segoe UI Historic" panose="020B0502040204020203" pitchFamily="34" charset="0"/>
            </a:endParaRPr>
          </a:p>
          <a:p>
            <a:pPr marL="342900" indent="-342900">
              <a:buFont typeface="Arial" panose="020B0604020202020204" pitchFamily="34" charset="0"/>
              <a:buChar char="•"/>
            </a:pPr>
            <a:r>
              <a:rPr lang="en-US" sz="2400">
                <a:latin typeface="Segoe UI Historic" panose="020B0502040204020203" pitchFamily="34" charset="0"/>
              </a:rPr>
              <a:t>UML is a widely used modeling language that provides a standardized notation for representing software-intensive systems.</a:t>
            </a:r>
          </a:p>
          <a:p>
            <a:endParaRPr lang="en-US" sz="2400">
              <a:latin typeface="Segoe UI Historic" panose="020B0502040204020203" pitchFamily="34" charset="0"/>
            </a:endParaRPr>
          </a:p>
          <a:p>
            <a:r>
              <a:rPr lang="en-US" sz="2400">
                <a:latin typeface="Segoe UI Historic" panose="020B0502040204020203" pitchFamily="34" charset="0"/>
              </a:rPr>
              <a:t>• It offers a variety of diagrams, such as use case diagrams, class diagrams, sequence diagrams, and activity diagrams, to capture different perspectives of the architecture.</a:t>
            </a:r>
          </a:p>
        </p:txBody>
      </p:sp>
    </p:spTree>
    <p:extLst>
      <p:ext uri="{BB962C8B-B14F-4D97-AF65-F5344CB8AC3E}">
        <p14:creationId xmlns:p14="http://schemas.microsoft.com/office/powerpoint/2010/main" val="1248638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USING MODELING LANGUAGES AND TOOLS (e.g., UML, ArchiMate)</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14</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50658" y="1377538"/>
            <a:ext cx="11256843" cy="3785652"/>
          </a:xfrm>
          <a:prstGeom prst="rect">
            <a:avLst/>
          </a:prstGeom>
          <a:noFill/>
        </p:spPr>
        <p:txBody>
          <a:bodyPr wrap="square" rtlCol="0">
            <a:spAutoFit/>
          </a:bodyPr>
          <a:lstStyle/>
          <a:p>
            <a:endParaRPr lang="en-US" sz="2400">
              <a:latin typeface="Segoe UI Historic" panose="020B0502040204020203" pitchFamily="34" charset="0"/>
            </a:endParaRPr>
          </a:p>
          <a:p>
            <a:r>
              <a:rPr lang="en-US" sz="2400" b="1">
                <a:latin typeface="Segoe UI Historic" panose="020B0502040204020203" pitchFamily="34" charset="0"/>
              </a:rPr>
              <a:t>ArchiMate</a:t>
            </a:r>
          </a:p>
          <a:p>
            <a:endParaRPr lang="en-US" sz="2400">
              <a:latin typeface="Segoe UI Historic" panose="020B0502040204020203" pitchFamily="34" charset="0"/>
            </a:endParaRPr>
          </a:p>
          <a:p>
            <a:pPr marL="342900" indent="-342900">
              <a:buFont typeface="Arial" panose="020B0604020202020204" pitchFamily="34" charset="0"/>
              <a:buChar char="•"/>
            </a:pPr>
            <a:r>
              <a:rPr lang="en-US" sz="2400">
                <a:latin typeface="Segoe UI Historic" panose="020B0502040204020203" pitchFamily="34" charset="0"/>
              </a:rPr>
              <a:t>ArchiMate is an enterprise architecture modeling language that provides a comprehensive and integrated approach to describe and visualize different architectural domains.</a:t>
            </a:r>
          </a:p>
          <a:p>
            <a:pPr marL="342900" indent="-342900">
              <a:buFont typeface="Arial" panose="020B0604020202020204" pitchFamily="34" charset="0"/>
              <a:buChar char="•"/>
            </a:pPr>
            <a:endParaRPr lang="en-US" sz="2400">
              <a:latin typeface="Segoe UI Historic" panose="020B0502040204020203" pitchFamily="34" charset="0"/>
            </a:endParaRPr>
          </a:p>
          <a:p>
            <a:pPr marL="342900" indent="-342900">
              <a:buFont typeface="Arial" panose="020B0604020202020204" pitchFamily="34" charset="0"/>
              <a:buChar char="•"/>
            </a:pPr>
            <a:r>
              <a:rPr lang="en-US" sz="2400">
                <a:latin typeface="Segoe UI Historic" panose="020B0502040204020203" pitchFamily="34" charset="0"/>
              </a:rPr>
              <a:t>• ArchiMate offers a set of concepts, relationships, and visual symbols specifically designed to represent business, application, and technology aspects of an architecture.</a:t>
            </a:r>
          </a:p>
        </p:txBody>
      </p:sp>
    </p:spTree>
    <p:extLst>
      <p:ext uri="{BB962C8B-B14F-4D97-AF65-F5344CB8AC3E}">
        <p14:creationId xmlns:p14="http://schemas.microsoft.com/office/powerpoint/2010/main" val="4009871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BENEFITS OF USING MODELING LANGUAGES AND TOOLS</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15</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50658" y="1377538"/>
            <a:ext cx="11256843" cy="4154984"/>
          </a:xfrm>
          <a:prstGeom prst="rect">
            <a:avLst/>
          </a:prstGeom>
          <a:noFill/>
        </p:spPr>
        <p:txBody>
          <a:bodyPr wrap="square" rtlCol="0">
            <a:spAutoFit/>
          </a:bodyPr>
          <a:lstStyle/>
          <a:p>
            <a:endParaRPr lang="en-US" sz="2400">
              <a:latin typeface="Segoe UI Historic" panose="020B0502040204020203" pitchFamily="34" charset="0"/>
            </a:endParaRPr>
          </a:p>
          <a:p>
            <a:r>
              <a:rPr lang="en-US" sz="2400">
                <a:latin typeface="Segoe UI Historic" panose="020B0502040204020203" pitchFamily="34" charset="0"/>
              </a:rPr>
              <a:t>• Standardization</a:t>
            </a:r>
          </a:p>
          <a:p>
            <a:endParaRPr lang="en-US" sz="2400">
              <a:latin typeface="Segoe UI Historic" panose="020B0502040204020203" pitchFamily="34" charset="0"/>
            </a:endParaRPr>
          </a:p>
          <a:p>
            <a:r>
              <a:rPr lang="en-US" sz="2400">
                <a:latin typeface="Segoe UI Historic" panose="020B0502040204020203" pitchFamily="34" charset="0"/>
              </a:rPr>
              <a:t>• Communication and Understanding</a:t>
            </a:r>
          </a:p>
          <a:p>
            <a:endParaRPr lang="en-US" sz="2400">
              <a:latin typeface="Segoe UI Historic" panose="020B0502040204020203" pitchFamily="34" charset="0"/>
            </a:endParaRPr>
          </a:p>
          <a:p>
            <a:r>
              <a:rPr lang="en-US" sz="2400">
                <a:latin typeface="Segoe UI Historic" panose="020B0502040204020203" pitchFamily="34" charset="0"/>
              </a:rPr>
              <a:t>• Analysis and Validation</a:t>
            </a:r>
          </a:p>
          <a:p>
            <a:endParaRPr lang="en-US" sz="2400">
              <a:latin typeface="Segoe UI Historic" panose="020B0502040204020203" pitchFamily="34" charset="0"/>
            </a:endParaRPr>
          </a:p>
          <a:p>
            <a:r>
              <a:rPr lang="en-US" sz="2400">
                <a:latin typeface="Segoe UI Historic" panose="020B0502040204020203" pitchFamily="34" charset="0"/>
              </a:rPr>
              <a:t>• Simulations and Predictions</a:t>
            </a:r>
          </a:p>
          <a:p>
            <a:endParaRPr lang="en-US" sz="2400">
              <a:latin typeface="Segoe UI Historic" panose="020B0502040204020203" pitchFamily="34" charset="0"/>
            </a:endParaRPr>
          </a:p>
          <a:p>
            <a:r>
              <a:rPr lang="en-US" sz="2400">
                <a:latin typeface="Segoe UI Historic" panose="020B0502040204020203" pitchFamily="34" charset="0"/>
              </a:rPr>
              <a:t>• Tool Support</a:t>
            </a:r>
          </a:p>
          <a:p>
            <a:endParaRPr lang="en-US" sz="2400">
              <a:latin typeface="Segoe UI Historic" panose="020B0502040204020203" pitchFamily="34" charset="0"/>
            </a:endParaRPr>
          </a:p>
        </p:txBody>
      </p:sp>
    </p:spTree>
    <p:extLst>
      <p:ext uri="{BB962C8B-B14F-4D97-AF65-F5344CB8AC3E}">
        <p14:creationId xmlns:p14="http://schemas.microsoft.com/office/powerpoint/2010/main" val="2761131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MANAGING AND MAINTAINING ARCHITECTURAL DOCUMENTATION</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16</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50658" y="1377538"/>
            <a:ext cx="11256843" cy="3785652"/>
          </a:xfrm>
          <a:prstGeom prst="rect">
            <a:avLst/>
          </a:prstGeom>
          <a:noFill/>
        </p:spPr>
        <p:txBody>
          <a:bodyPr wrap="square" rtlCol="0">
            <a:spAutoFit/>
          </a:bodyPr>
          <a:lstStyle/>
          <a:p>
            <a:r>
              <a:rPr lang="en-US" sz="2400">
                <a:latin typeface="Segoe UI Historic" panose="020B0502040204020203" pitchFamily="34" charset="0"/>
              </a:rPr>
              <a:t>Managing and maintaining architectural documentation is crucial for the success of an enterprise architecture initiative. </a:t>
            </a:r>
          </a:p>
          <a:p>
            <a:r>
              <a:rPr lang="en-US" sz="2400">
                <a:latin typeface="Segoe UI Historic" panose="020B0502040204020203" pitchFamily="34" charset="0"/>
              </a:rPr>
              <a:t>Here are some key considerations for managing and maintaining architectural documentation:</a:t>
            </a:r>
          </a:p>
          <a:p>
            <a:endParaRPr lang="en-US" sz="2400">
              <a:latin typeface="Segoe UI Historic" panose="020B0502040204020203" pitchFamily="34" charset="0"/>
            </a:endParaRPr>
          </a:p>
          <a:p>
            <a:pPr marL="457200" indent="-457200">
              <a:buAutoNum type="arabicPeriod"/>
            </a:pPr>
            <a:r>
              <a:rPr lang="en-US" sz="2400">
                <a:latin typeface="Segoe UI Historic" panose="020B0502040204020203" pitchFamily="34" charset="0"/>
              </a:rPr>
              <a:t>Document Organization: Establish a logical structure for organizing architectural documentation. </a:t>
            </a:r>
          </a:p>
          <a:p>
            <a:pPr marL="457200" indent="-457200">
              <a:buAutoNum type="arabicPeriod"/>
            </a:pPr>
            <a:endParaRPr lang="en-US" sz="2400">
              <a:latin typeface="Segoe UI Historic" panose="020B0502040204020203" pitchFamily="34" charset="0"/>
            </a:endParaRPr>
          </a:p>
          <a:p>
            <a:pPr marL="457200" indent="-457200">
              <a:buAutoNum type="arabicPeriod"/>
            </a:pPr>
            <a:r>
              <a:rPr lang="en-US" sz="2400">
                <a:latin typeface="Segoe UI Historic" panose="020B0502040204020203" pitchFamily="34" charset="0"/>
              </a:rPr>
              <a:t>Version Control: Implement a version control system to manage changes to architectural documentation. </a:t>
            </a:r>
          </a:p>
        </p:txBody>
      </p:sp>
    </p:spTree>
    <p:extLst>
      <p:ext uri="{BB962C8B-B14F-4D97-AF65-F5344CB8AC3E}">
        <p14:creationId xmlns:p14="http://schemas.microsoft.com/office/powerpoint/2010/main" val="2281344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MANAGING AND MAINTAINING ARCHITECTURAL DOCUMENTATION</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17</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93688" y="1743933"/>
            <a:ext cx="11256843" cy="3046988"/>
          </a:xfrm>
          <a:prstGeom prst="rect">
            <a:avLst/>
          </a:prstGeom>
          <a:noFill/>
        </p:spPr>
        <p:txBody>
          <a:bodyPr wrap="square" rtlCol="0">
            <a:spAutoFit/>
          </a:bodyPr>
          <a:lstStyle/>
          <a:p>
            <a:r>
              <a:rPr lang="en-US" sz="2400">
                <a:latin typeface="Segoe UI Historic" panose="020B0502040204020203" pitchFamily="34" charset="0"/>
              </a:rPr>
              <a:t>3. Documentation Templates and Standards: Define and enforce documentation templates and standards to maintain consistency across architectural artifacts. </a:t>
            </a:r>
          </a:p>
          <a:p>
            <a:endParaRPr lang="en-US" sz="2400">
              <a:latin typeface="Segoe UI Historic" panose="020B0502040204020203" pitchFamily="34" charset="0"/>
            </a:endParaRPr>
          </a:p>
          <a:p>
            <a:r>
              <a:rPr lang="en-US" sz="2400">
                <a:latin typeface="Segoe UI Historic" panose="020B0502040204020203" pitchFamily="34" charset="0"/>
              </a:rPr>
              <a:t>4. Document Ownership and Responsibility: Assign ownership and responsibility for different architectural documents to ensure accountability and timely updates. </a:t>
            </a:r>
          </a:p>
          <a:p>
            <a:endParaRPr lang="en-US" sz="2400">
              <a:latin typeface="Segoe UI Historic" panose="020B0502040204020203" pitchFamily="34" charset="0"/>
            </a:endParaRPr>
          </a:p>
          <a:p>
            <a:r>
              <a:rPr lang="en-US" sz="2400">
                <a:latin typeface="Segoe UI Historic" panose="020B0502040204020203" pitchFamily="34" charset="0"/>
              </a:rPr>
              <a:t>5. Documentation Maintenance Process: Establish a documented process for maintaining architectural documentation.</a:t>
            </a:r>
          </a:p>
        </p:txBody>
      </p:sp>
    </p:spTree>
    <p:extLst>
      <p:ext uri="{BB962C8B-B14F-4D97-AF65-F5344CB8AC3E}">
        <p14:creationId xmlns:p14="http://schemas.microsoft.com/office/powerpoint/2010/main" val="985972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MANAGING AND MAINTAINING ARCHITECTURAL DOCUMENTATION</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18</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93688" y="1743933"/>
            <a:ext cx="11256843" cy="3416320"/>
          </a:xfrm>
          <a:prstGeom prst="rect">
            <a:avLst/>
          </a:prstGeom>
          <a:noFill/>
        </p:spPr>
        <p:txBody>
          <a:bodyPr wrap="square" rtlCol="0">
            <a:spAutoFit/>
          </a:bodyPr>
          <a:lstStyle/>
          <a:p>
            <a:r>
              <a:rPr lang="en-US" sz="2400">
                <a:latin typeface="Segoe UI Historic" panose="020B0502040204020203" pitchFamily="34" charset="0"/>
              </a:rPr>
              <a:t>6. Document Accessibility: Ensure that architectural documentation is easily accessible to relevant stakeholders. </a:t>
            </a:r>
          </a:p>
          <a:p>
            <a:endParaRPr lang="en-US" sz="2400">
              <a:latin typeface="Segoe UI Historic" panose="020B0502040204020203" pitchFamily="34" charset="0"/>
            </a:endParaRPr>
          </a:p>
          <a:p>
            <a:r>
              <a:rPr lang="en-US" sz="2400">
                <a:latin typeface="Segoe UI Historic" panose="020B0502040204020203" pitchFamily="34" charset="0"/>
              </a:rPr>
              <a:t>7. Documentation Review and Validation: Conduct regular reviews and validations of architectural documentation to ensure its quality and completeness. </a:t>
            </a:r>
          </a:p>
          <a:p>
            <a:endParaRPr lang="en-US" sz="2400">
              <a:latin typeface="Segoe UI Historic" panose="020B0502040204020203" pitchFamily="34" charset="0"/>
            </a:endParaRPr>
          </a:p>
          <a:p>
            <a:r>
              <a:rPr lang="en-US" sz="2400">
                <a:latin typeface="Segoe UI Historic" panose="020B0502040204020203" pitchFamily="34" charset="0"/>
              </a:rPr>
              <a:t>8. Documentation Communication and Training: Develop effective communication strategies to inform stakeholders about the availability and purpose of architectural documentation. </a:t>
            </a:r>
          </a:p>
        </p:txBody>
      </p:sp>
    </p:spTree>
    <p:extLst>
      <p:ext uri="{BB962C8B-B14F-4D97-AF65-F5344CB8AC3E}">
        <p14:creationId xmlns:p14="http://schemas.microsoft.com/office/powerpoint/2010/main" val="1369967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840" y="380365"/>
            <a:ext cx="11151870" cy="997173"/>
          </a:xfrm>
        </p:spPr>
        <p:txBody>
          <a:bodyPr/>
          <a:lstStyle/>
          <a:p>
            <a:r>
              <a:rPr lang="en-US" altLang="en-US" sz="2800" b="1"/>
              <a:t>MANAGING AND MAINTAINING ARCHITECTURAL DOCUMENTATION</a:t>
            </a:r>
            <a:endParaRPr lang="en-PH" altLang="en-US" sz="2800" b="1"/>
          </a:p>
        </p:txBody>
      </p:sp>
      <p:sp>
        <p:nvSpPr>
          <p:cNvPr id="4" name="Text Box 3"/>
          <p:cNvSpPr txBox="1"/>
          <p:nvPr/>
        </p:nvSpPr>
        <p:spPr>
          <a:xfrm>
            <a:off x="597535" y="13970"/>
            <a:ext cx="1417955" cy="368300"/>
          </a:xfrm>
          <a:prstGeom prst="rect">
            <a:avLst/>
          </a:prstGeom>
          <a:noFill/>
        </p:spPr>
        <p:txBody>
          <a:bodyPr wrap="square" rtlCol="0">
            <a:spAutoFit/>
          </a:bodyPr>
          <a:lstStyle/>
          <a:p>
            <a:pPr algn="ctr"/>
            <a:r>
              <a:rPr lang="en-US" b="1">
                <a:solidFill>
                  <a:schemeClr val="bg1"/>
                </a:solidFill>
              </a:rPr>
              <a:t>WEEK 10</a:t>
            </a:r>
          </a:p>
        </p:txBody>
      </p:sp>
      <p:sp>
        <p:nvSpPr>
          <p:cNvPr id="5" name="Text Box 4"/>
          <p:cNvSpPr txBox="1"/>
          <p:nvPr/>
        </p:nvSpPr>
        <p:spPr>
          <a:xfrm>
            <a:off x="3054349" y="10795"/>
            <a:ext cx="5222751" cy="369332"/>
          </a:xfrm>
          <a:prstGeom prst="rect">
            <a:avLst/>
          </a:prstGeom>
          <a:noFill/>
        </p:spPr>
        <p:txBody>
          <a:bodyPr wrap="square" rtlCol="0">
            <a:spAutoFit/>
          </a:bodyPr>
          <a:lstStyle/>
          <a:p>
            <a:r>
              <a:rPr lang="en-US" b="1">
                <a:solidFill>
                  <a:schemeClr val="tx1"/>
                </a:solidFill>
                <a:effectLst/>
              </a:rPr>
              <a:t>ARCHITECTURAL VIEWS AND DOCUMENTATION</a:t>
            </a:r>
          </a:p>
        </p:txBody>
      </p:sp>
      <p:sp>
        <p:nvSpPr>
          <p:cNvPr id="6" name="Text Box 5"/>
          <p:cNvSpPr txBox="1"/>
          <p:nvPr/>
        </p:nvSpPr>
        <p:spPr>
          <a:xfrm>
            <a:off x="243840" y="6503670"/>
            <a:ext cx="1172845" cy="352425"/>
          </a:xfrm>
          <a:prstGeom prst="rect">
            <a:avLst/>
          </a:prstGeom>
          <a:noFill/>
        </p:spPr>
        <p:txBody>
          <a:bodyPr wrap="square" rtlCol="0">
            <a:spAutoFit/>
          </a:bodyPr>
          <a:lstStyle/>
          <a:p>
            <a:pPr algn="ctr"/>
            <a:r>
              <a:rPr lang="en-US" sz="1700"/>
              <a:t>SIA102</a:t>
            </a:r>
            <a:endParaRPr lang="en-US" sz="1700">
              <a:solidFill>
                <a:schemeClr val="tx1"/>
              </a:solidFill>
              <a:effectLst/>
            </a:endParaRPr>
          </a:p>
        </p:txBody>
      </p:sp>
      <p:sp>
        <p:nvSpPr>
          <p:cNvPr id="7" name="Text Box 6"/>
          <p:cNvSpPr txBox="1"/>
          <p:nvPr/>
        </p:nvSpPr>
        <p:spPr>
          <a:xfrm>
            <a:off x="1881505" y="6503670"/>
            <a:ext cx="6729730" cy="352425"/>
          </a:xfrm>
          <a:prstGeom prst="rect">
            <a:avLst/>
          </a:prstGeom>
          <a:noFill/>
        </p:spPr>
        <p:txBody>
          <a:bodyPr wrap="square" rtlCol="0">
            <a:spAutoFit/>
          </a:bodyPr>
          <a:lstStyle/>
          <a:p>
            <a:pPr algn="l"/>
            <a:r>
              <a:rPr lang="en-US" sz="1700">
                <a:solidFill>
                  <a:schemeClr val="bg1"/>
                </a:solidFill>
              </a:rPr>
              <a:t>SYSTEM INTEGRATION AND ARCHITECTURE 2</a:t>
            </a:r>
            <a:endParaRPr lang="en-US" sz="1700">
              <a:solidFill>
                <a:schemeClr val="bg1"/>
              </a:solidFill>
              <a:effectLst/>
            </a:endParaRPr>
          </a:p>
        </p:txBody>
      </p:sp>
      <p:sp>
        <p:nvSpPr>
          <p:cNvPr id="10" name="Slide Number Placeholder 9"/>
          <p:cNvSpPr>
            <a:spLocks noGrp="1"/>
          </p:cNvSpPr>
          <p:nvPr>
            <p:ph type="sldNum" sz="quarter" idx="12"/>
          </p:nvPr>
        </p:nvSpPr>
        <p:spPr/>
        <p:txBody>
          <a:bodyPr/>
          <a:lstStyle/>
          <a:p>
            <a:fld id="{9B618960-8005-486C-9A75-10CB2AAC16F9}" type="slidenum">
              <a:rPr lang="en-US" smtClean="0"/>
              <a:t>19</a:t>
            </a:fld>
            <a:endParaRPr lang="en-US"/>
          </a:p>
        </p:txBody>
      </p:sp>
      <p:sp>
        <p:nvSpPr>
          <p:cNvPr id="15" name="TextBox 14">
            <a:extLst>
              <a:ext uri="{FF2B5EF4-FFF2-40B4-BE49-F238E27FC236}">
                <a16:creationId xmlns:a16="http://schemas.microsoft.com/office/drawing/2014/main" id="{E808723F-C828-A076-6BEB-EF7142C68E0C}"/>
              </a:ext>
            </a:extLst>
          </p:cNvPr>
          <p:cNvSpPr txBox="1"/>
          <p:nvPr/>
        </p:nvSpPr>
        <p:spPr>
          <a:xfrm>
            <a:off x="393688" y="1743933"/>
            <a:ext cx="11256843" cy="2308324"/>
          </a:xfrm>
          <a:prstGeom prst="rect">
            <a:avLst/>
          </a:prstGeom>
          <a:noFill/>
        </p:spPr>
        <p:txBody>
          <a:bodyPr wrap="square" rtlCol="0">
            <a:spAutoFit/>
          </a:bodyPr>
          <a:lstStyle/>
          <a:p>
            <a:r>
              <a:rPr lang="en-US" sz="2400">
                <a:latin typeface="Segoe UI Historic" panose="020B0502040204020203" pitchFamily="34" charset="0"/>
              </a:rPr>
              <a:t>9. Documentation Governance: Establish governance mechanisms to oversee the management and maintenance of architectural documentation. </a:t>
            </a:r>
          </a:p>
          <a:p>
            <a:endParaRPr lang="en-US" sz="2400">
              <a:latin typeface="Segoe UI Historic" panose="020B0502040204020203" pitchFamily="34" charset="0"/>
            </a:endParaRPr>
          </a:p>
          <a:p>
            <a:r>
              <a:rPr lang="en-US" sz="2400">
                <a:latin typeface="Segoe UI Historic" panose="020B0502040204020203" pitchFamily="34" charset="0"/>
              </a:rPr>
              <a:t>By effectively managing and maintaining architectural documentation, organizations can ensure that the architecture remains up-to-date, </a:t>
            </a:r>
            <a:r>
              <a:rPr lang="en-US" sz="2400" err="1">
                <a:latin typeface="Segoe UI Historic" panose="020B0502040204020203" pitchFamily="34" charset="0"/>
              </a:rPr>
              <a:t>accessibie</a:t>
            </a:r>
            <a:r>
              <a:rPr lang="en-US" sz="2400">
                <a:latin typeface="Segoe UI Historic" panose="020B0502040204020203" pitchFamily="34" charset="0"/>
              </a:rPr>
              <a:t>, and useful for decision-making and implementation activities.</a:t>
            </a:r>
          </a:p>
        </p:txBody>
      </p:sp>
    </p:spTree>
    <p:extLst>
      <p:ext uri="{BB962C8B-B14F-4D97-AF65-F5344CB8AC3E}">
        <p14:creationId xmlns:p14="http://schemas.microsoft.com/office/powerpoint/2010/main" val="24312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964A0914AB9943BF06F7C7113B3009" ma:contentTypeVersion="3" ma:contentTypeDescription="Create a new document." ma:contentTypeScope="" ma:versionID="317a53e4a5bd543024a187152046c91f">
  <xsd:schema xmlns:xsd="http://www.w3.org/2001/XMLSchema" xmlns:xs="http://www.w3.org/2001/XMLSchema" xmlns:p="http://schemas.microsoft.com/office/2006/metadata/properties" xmlns:ns2="e813d7e4-48cf-4b61-b3da-f67bf473aee5" targetNamespace="http://schemas.microsoft.com/office/2006/metadata/properties" ma:root="true" ma:fieldsID="d70d45b9024b41803f828715b68f614e" ns2:_="">
    <xsd:import namespace="e813d7e4-48cf-4b61-b3da-f67bf473aee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13d7e4-48cf-4b61-b3da-f67bf473a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9AB5F6-6FA9-4AD0-B2A2-324AFA4B27A4}">
  <ds:schemaRefs>
    <ds:schemaRef ds:uri="http://schemas.microsoft.com/sharepoint/v3/contenttype/forms"/>
  </ds:schemaRefs>
</ds:datastoreItem>
</file>

<file path=customXml/itemProps2.xml><?xml version="1.0" encoding="utf-8"?>
<ds:datastoreItem xmlns:ds="http://schemas.openxmlformats.org/officeDocument/2006/customXml" ds:itemID="{9A7EC2BF-7259-4290-A4CF-9CAFE4A7E30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D2150F6-5ABE-43EC-B16E-8A7B1C428039}">
  <ds:schemaRefs>
    <ds:schemaRef ds:uri="e813d7e4-48cf-4b61-b3da-f67bf473aee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17</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WEEK 10</vt:lpstr>
      <vt:lpstr>PowerPoint Presentation</vt:lpstr>
      <vt:lpstr>ARCHITECTURAL VIEWS AND DOCUMENTATION </vt:lpstr>
      <vt:lpstr>ARCHITECTURAL VIEWS AND DOCUMENTATION </vt:lpstr>
      <vt:lpstr>CREATING ARCHITECTURAL VIEWS AND DIAGRAMS</vt:lpstr>
      <vt:lpstr>CREATING ARCHITECTURAL VIEWS AND DIAGRAMS</vt:lpstr>
      <vt:lpstr>COMMUNICATING ARCHITECTURAL VIEWS AND DIAGRAMS:</vt:lpstr>
      <vt:lpstr>COMMUNICATING ARCHITECTURAL VIEWS AND DIAGRAMS:</vt:lpstr>
      <vt:lpstr>DOCUMENTING ARCHITECTURE DECISIONS AND RATIONALE</vt:lpstr>
      <vt:lpstr>DOCUMENTING ARCHITECTURE DECISIONS AND RATIONALE</vt:lpstr>
      <vt:lpstr>DOCUMENTING ARCHITECTURE DECISIONS AND RATIONALE</vt:lpstr>
      <vt:lpstr>DOCUMENTING ARCHITECTURE DECISIONS AND RATIONALE</vt:lpstr>
      <vt:lpstr>USING MODELING LANGUAGES AND TOOLS (e.g., UML, ArchiMate)</vt:lpstr>
      <vt:lpstr>USING MODELING LANGUAGES AND TOOLS (e.g., UML, ArchiMate)</vt:lpstr>
      <vt:lpstr>BENEFITS OF USING MODELING LANGUAGES AND TOOLS</vt:lpstr>
      <vt:lpstr>MANAGING AND MAINTAINING ARCHITECTURAL DOCUMENTATION</vt:lpstr>
      <vt:lpstr>MANAGING AND MAINTAINING ARCHITECTURAL DOCUMENTATION</vt:lpstr>
      <vt:lpstr>MANAGING AND MAINTAINING ARCHITECTURAL DOCUMENTATION</vt:lpstr>
      <vt:lpstr>MANAGING AND MAINTAINING ARCHITECTURAL DOCUMENTATION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dc:title>
  <dc:creator>bhemtanjente</dc:creator>
  <cp:revision>1</cp:revision>
  <dcterms:created xsi:type="dcterms:W3CDTF">2023-08-13T15:08:00Z</dcterms:created>
  <dcterms:modified xsi:type="dcterms:W3CDTF">2026-04-17T03:26:18Z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1033-12.2.0.13359</vt:lpwstr>
  </property>
  <property fmtid="{D5CDD505-2E9C-101B-9397-08002B2CF9AE}" pid="3" name="ICV">
    <vt:lpwstr>BBAEBB1887E041F3AAFC6D453070AD0F_12</vt:lpwstr>
  </property>
  <property fmtid="{D5CDD505-2E9C-101B-9397-08002B2CF9AE}" pid="4" name="ContentTypeId">
    <vt:lpwstr>0x010100BE964A0914AB9943BF06F7C7113B3009</vt:lpwstr>
  </property>
</Properties>
</file>